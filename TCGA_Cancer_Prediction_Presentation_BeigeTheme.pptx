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KRAS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PAAD</c:v>
                </c:pt>
                <c:pt idx="1">
                  <c:v>COAD</c:v>
                </c:pt>
                <c:pt idx="2">
                  <c:v>LUAD</c:v>
                </c:pt>
                <c:pt idx="3">
                  <c:v>BRCA</c:v>
                </c:pt>
                <c:pt idx="4">
                  <c:v>SKCM</c:v>
                </c:pt>
                <c:pt idx="5">
                  <c:v>UCEC</c:v>
                </c:pt>
                <c:pt idx="6">
                  <c:v>GBM</c:v>
                </c:pt>
                <c:pt idx="7">
                  <c:v>LGG</c:v>
                </c:pt>
                <c:pt idx="8">
                  <c:v>THCA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90</c:v>
                </c:pt>
                <c:pt idx="1">
                  <c:v>15</c:v>
                </c:pt>
                <c:pt idx="2">
                  <c:v>32</c:v>
                </c:pt>
                <c:pt idx="3">
                  <c:v>3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5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37-4FC7-BCF5-24983AE255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TP53</c:v>
                </c:pt>
              </c:strCache>
            </c:strRef>
          </c:tx>
          <c:spPr>
            <a:solidFill>
              <a:srgbClr val="A97C5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PAAD</c:v>
                </c:pt>
                <c:pt idx="1">
                  <c:v>COAD</c:v>
                </c:pt>
                <c:pt idx="2">
                  <c:v>LUAD</c:v>
                </c:pt>
                <c:pt idx="3">
                  <c:v>BRCA</c:v>
                </c:pt>
                <c:pt idx="4">
                  <c:v>SKCM</c:v>
                </c:pt>
                <c:pt idx="5">
                  <c:v>UCEC</c:v>
                </c:pt>
                <c:pt idx="6">
                  <c:v>GBM</c:v>
                </c:pt>
                <c:pt idx="7">
                  <c:v>LGG</c:v>
                </c:pt>
                <c:pt idx="8">
                  <c:v>THCA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70</c:v>
                </c:pt>
                <c:pt idx="1">
                  <c:v>58</c:v>
                </c:pt>
                <c:pt idx="2">
                  <c:v>52</c:v>
                </c:pt>
                <c:pt idx="3">
                  <c:v>35</c:v>
                </c:pt>
                <c:pt idx="4">
                  <c:v>5</c:v>
                </c:pt>
                <c:pt idx="5">
                  <c:v>10</c:v>
                </c:pt>
                <c:pt idx="6">
                  <c:v>28</c:v>
                </c:pt>
                <c:pt idx="7">
                  <c:v>5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37-4FC7-BCF5-24983AE255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PIK3CA</c:v>
                </c:pt>
              </c:strCache>
            </c:strRef>
          </c:tx>
          <c:spPr>
            <a:solidFill>
              <a:srgbClr val="C9A66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PAAD</c:v>
                </c:pt>
                <c:pt idx="1">
                  <c:v>COAD</c:v>
                </c:pt>
                <c:pt idx="2">
                  <c:v>LUAD</c:v>
                </c:pt>
                <c:pt idx="3">
                  <c:v>BRCA</c:v>
                </c:pt>
                <c:pt idx="4">
                  <c:v>SKCM</c:v>
                </c:pt>
                <c:pt idx="5">
                  <c:v>UCEC</c:v>
                </c:pt>
                <c:pt idx="6">
                  <c:v>GBM</c:v>
                </c:pt>
                <c:pt idx="7">
                  <c:v>LGG</c:v>
                </c:pt>
                <c:pt idx="8">
                  <c:v>THCA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</c:v>
                </c:pt>
                <c:pt idx="1">
                  <c:v>18</c:v>
                </c:pt>
                <c:pt idx="2">
                  <c:v>10</c:v>
                </c:pt>
                <c:pt idx="3">
                  <c:v>35</c:v>
                </c:pt>
                <c:pt idx="4">
                  <c:v>3</c:v>
                </c:pt>
                <c:pt idx="5">
                  <c:v>52</c:v>
                </c:pt>
                <c:pt idx="6">
                  <c:v>2</c:v>
                </c:pt>
                <c:pt idx="7">
                  <c:v>2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37-4FC7-BCF5-24983AE255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BRAF</c:v>
                </c:pt>
              </c:strCache>
            </c:strRef>
          </c:tx>
          <c:spPr>
            <a:solidFill>
              <a:srgbClr val="8B5E3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PAAD</c:v>
                </c:pt>
                <c:pt idx="1">
                  <c:v>COAD</c:v>
                </c:pt>
                <c:pt idx="2">
                  <c:v>LUAD</c:v>
                </c:pt>
                <c:pt idx="3">
                  <c:v>BRCA</c:v>
                </c:pt>
                <c:pt idx="4">
                  <c:v>SKCM</c:v>
                </c:pt>
                <c:pt idx="5">
                  <c:v>UCEC</c:v>
                </c:pt>
                <c:pt idx="6">
                  <c:v>GBM</c:v>
                </c:pt>
                <c:pt idx="7">
                  <c:v>LGG</c:v>
                </c:pt>
                <c:pt idx="8">
                  <c:v>THCA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3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52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37-4FC7-BCF5-24983AE2559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IDH1</c:v>
                </c:pt>
              </c:strCache>
            </c:strRef>
          </c:tx>
          <c:spPr>
            <a:solidFill>
              <a:srgbClr val="BC8F5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PAAD</c:v>
                </c:pt>
                <c:pt idx="1">
                  <c:v>COAD</c:v>
                </c:pt>
                <c:pt idx="2">
                  <c:v>LUAD</c:v>
                </c:pt>
                <c:pt idx="3">
                  <c:v>BRCA</c:v>
                </c:pt>
                <c:pt idx="4">
                  <c:v>SKCM</c:v>
                </c:pt>
                <c:pt idx="5">
                  <c:v>UCEC</c:v>
                </c:pt>
                <c:pt idx="6">
                  <c:v>GBM</c:v>
                </c:pt>
                <c:pt idx="7">
                  <c:v>LGG</c:v>
                </c:pt>
                <c:pt idx="8">
                  <c:v>THCA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20</c:v>
                </c:pt>
                <c:pt idx="7">
                  <c:v>80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37-4FC7-BCF5-24983AE25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Cross-Entropy</c:v>
                </c:pt>
              </c:strCache>
            </c:strRef>
          </c:tx>
          <c:spPr>
            <a:ln w="25400" cap="flat">
              <a:solidFill>
                <a:srgbClr val="8A75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0.01</c:v>
                </c:pt>
                <c:pt idx="1">
                  <c:v>0.11</c:v>
                </c:pt>
                <c:pt idx="2">
                  <c:v>0.21</c:v>
                </c:pt>
                <c:pt idx="3">
                  <c:v>0.31</c:v>
                </c:pt>
                <c:pt idx="4">
                  <c:v>0.41</c:v>
                </c:pt>
                <c:pt idx="5">
                  <c:v>0.51</c:v>
                </c:pt>
                <c:pt idx="6">
                  <c:v>0.61</c:v>
                </c:pt>
                <c:pt idx="7">
                  <c:v>0.71</c:v>
                </c:pt>
                <c:pt idx="8">
                  <c:v>0.81</c:v>
                </c:pt>
                <c:pt idx="9">
                  <c:v>0.91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4.5999999999999996</c:v>
                </c:pt>
                <c:pt idx="1">
                  <c:v>2.2000000000000002</c:v>
                </c:pt>
                <c:pt idx="2">
                  <c:v>1.55</c:v>
                </c:pt>
                <c:pt idx="3">
                  <c:v>1.1499999999999999</c:v>
                </c:pt>
                <c:pt idx="4">
                  <c:v>0.9</c:v>
                </c:pt>
                <c:pt idx="5">
                  <c:v>0.67</c:v>
                </c:pt>
                <c:pt idx="6">
                  <c:v>0.49</c:v>
                </c:pt>
                <c:pt idx="7">
                  <c:v>0.34</c:v>
                </c:pt>
                <c:pt idx="8">
                  <c:v>0.21</c:v>
                </c:pt>
                <c:pt idx="9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97-46BC-A75D-4AF20B5AEC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Focal Loss (γ=2)</c:v>
                </c:pt>
              </c:strCache>
            </c:strRef>
          </c:tx>
          <c:spPr>
            <a:ln w="25400" cap="flat">
              <a:solidFill>
                <a:srgbClr val="9C4A2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0.01</c:v>
                </c:pt>
                <c:pt idx="1">
                  <c:v>0.11</c:v>
                </c:pt>
                <c:pt idx="2">
                  <c:v>0.21</c:v>
                </c:pt>
                <c:pt idx="3">
                  <c:v>0.31</c:v>
                </c:pt>
                <c:pt idx="4">
                  <c:v>0.41</c:v>
                </c:pt>
                <c:pt idx="5">
                  <c:v>0.51</c:v>
                </c:pt>
                <c:pt idx="6">
                  <c:v>0.61</c:v>
                </c:pt>
                <c:pt idx="7">
                  <c:v>0.71</c:v>
                </c:pt>
                <c:pt idx="8">
                  <c:v>0.81</c:v>
                </c:pt>
                <c:pt idx="9">
                  <c:v>0.91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4.5</c:v>
                </c:pt>
                <c:pt idx="1">
                  <c:v>1.8</c:v>
                </c:pt>
                <c:pt idx="2">
                  <c:v>1</c:v>
                </c:pt>
                <c:pt idx="3">
                  <c:v>0.6</c:v>
                </c:pt>
                <c:pt idx="4">
                  <c:v>0.36</c:v>
                </c:pt>
                <c:pt idx="5">
                  <c:v>0.2</c:v>
                </c:pt>
                <c:pt idx="6">
                  <c:v>0.11</c:v>
                </c:pt>
                <c:pt idx="7">
                  <c:v>0.05</c:v>
                </c:pt>
                <c:pt idx="8">
                  <c:v>0.02</c:v>
                </c:pt>
                <c:pt idx="9">
                  <c:v>5.0000000000000001E-3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97-46BC-A75D-4AF20B5AE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BRCA</c:v>
                </c:pt>
                <c:pt idx="1">
                  <c:v>GBM</c:v>
                </c:pt>
                <c:pt idx="2">
                  <c:v>LUAD</c:v>
                </c:pt>
                <c:pt idx="3">
                  <c:v>HNSC</c:v>
                </c:pt>
                <c:pt idx="4">
                  <c:v>KIRC</c:v>
                </c:pt>
                <c:pt idx="5">
                  <c:v>PRAD</c:v>
                </c:pt>
                <c:pt idx="6">
                  <c:v>SKCM</c:v>
                </c:pt>
                <c:pt idx="7">
                  <c:v>BLCA</c:v>
                </c:pt>
                <c:pt idx="8">
                  <c:v>CESC</c:v>
                </c:pt>
                <c:pt idx="9">
                  <c:v>SARC</c:v>
                </c:pt>
                <c:pt idx="10">
                  <c:v>PAAD</c:v>
                </c:pt>
                <c:pt idx="11">
                  <c:v>PCPG</c:v>
                </c:pt>
                <c:pt idx="12">
                  <c:v>THYM</c:v>
                </c:pt>
                <c:pt idx="13">
                  <c:v>MESO</c:v>
                </c:pt>
                <c:pt idx="14">
                  <c:v>KICH</c:v>
                </c:pt>
                <c:pt idx="15">
                  <c:v>DLBC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1084</c:v>
                </c:pt>
                <c:pt idx="1">
                  <c:v>592</c:v>
                </c:pt>
                <c:pt idx="2">
                  <c:v>585</c:v>
                </c:pt>
                <c:pt idx="3">
                  <c:v>520</c:v>
                </c:pt>
                <c:pt idx="4">
                  <c:v>537</c:v>
                </c:pt>
                <c:pt idx="5">
                  <c:v>498</c:v>
                </c:pt>
                <c:pt idx="6">
                  <c:v>469</c:v>
                </c:pt>
                <c:pt idx="7">
                  <c:v>411</c:v>
                </c:pt>
                <c:pt idx="8">
                  <c:v>304</c:v>
                </c:pt>
                <c:pt idx="9">
                  <c:v>261</c:v>
                </c:pt>
                <c:pt idx="10">
                  <c:v>178</c:v>
                </c:pt>
                <c:pt idx="11">
                  <c:v>179</c:v>
                </c:pt>
                <c:pt idx="12">
                  <c:v>124</c:v>
                </c:pt>
                <c:pt idx="13">
                  <c:v>87</c:v>
                </c:pt>
                <c:pt idx="14">
                  <c:v>66</c:v>
                </c:pt>
                <c:pt idx="15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ED-4A60-AD34-FEBFBBF0C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4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0B-4B1A-B1A2-E55E00371942}"/>
              </c:ext>
            </c:extLst>
          </c:dPt>
          <c:dPt>
            <c:idx val="1"/>
            <c:bubble3D val="0"/>
            <c:spPr>
              <a:solidFill>
                <a:srgbClr val="A97C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0B-4B1A-B1A2-E55E00371942}"/>
              </c:ext>
            </c:extLst>
          </c:dPt>
          <c:dPt>
            <c:idx val="2"/>
            <c:bubble3D val="0"/>
            <c:spPr>
              <a:solidFill>
                <a:srgbClr val="C9A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0B-4B1A-B1A2-E55E00371942}"/>
              </c:ext>
            </c:extLst>
          </c:dPt>
          <c:dPt>
            <c:idx val="3"/>
            <c:bubble3D val="0"/>
            <c:spPr>
              <a:solidFill>
                <a:srgbClr val="8B5E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0B-4B1A-B1A2-E55E00371942}"/>
              </c:ext>
            </c:extLst>
          </c:dPt>
          <c:dPt>
            <c:idx val="4"/>
            <c:bubble3D val="0"/>
            <c:spPr>
              <a:solidFill>
                <a:srgbClr val="BC8F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0B-4B1A-B1A2-E55E00371942}"/>
              </c:ext>
            </c:extLst>
          </c:dPt>
          <c:cat>
            <c:strRef>
              <c:f>Sheet1!$A$2:$A$6</c:f>
              <c:strCache>
                <c:ptCount val="5"/>
                <c:pt idx="0">
                  <c:v>BRCA (9.9%)</c:v>
                </c:pt>
                <c:pt idx="1">
                  <c:v>Next 4 (21.7%)</c:v>
                </c:pt>
                <c:pt idx="2">
                  <c:v>Mid 13 (40.2%)</c:v>
                </c:pt>
                <c:pt idx="3">
                  <c:v>Rare ≤100 (3.9%)</c:v>
                </c:pt>
                <c:pt idx="4">
                  <c:v>Other 8 (24.3%)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9.9</c:v>
                </c:pt>
                <c:pt idx="1">
                  <c:v>21.7</c:v>
                </c:pt>
                <c:pt idx="2">
                  <c:v>40.200000000000003</c:v>
                </c:pt>
                <c:pt idx="3">
                  <c:v>3.9</c:v>
                </c:pt>
                <c:pt idx="4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0B-4B1A-B1A2-E55E00371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 %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TP53</c:v>
                </c:pt>
                <c:pt idx="1">
                  <c:v>TTN</c:v>
                </c:pt>
                <c:pt idx="2">
                  <c:v>PIK3CA</c:v>
                </c:pt>
                <c:pt idx="3">
                  <c:v>PTEN</c:v>
                </c:pt>
                <c:pt idx="4">
                  <c:v>KRAS</c:v>
                </c:pt>
                <c:pt idx="5">
                  <c:v>ARID1A</c:v>
                </c:pt>
                <c:pt idx="6">
                  <c:v>BRAF</c:v>
                </c:pt>
                <c:pt idx="7">
                  <c:v>MUC16</c:v>
                </c:pt>
                <c:pt idx="8">
                  <c:v>FAT4</c:v>
                </c:pt>
                <c:pt idx="9">
                  <c:v>CDH1</c:v>
                </c:pt>
                <c:pt idx="10">
                  <c:v>EGFR</c:v>
                </c:pt>
                <c:pt idx="11">
                  <c:v>APC</c:v>
                </c:pt>
                <c:pt idx="12">
                  <c:v>RB1</c:v>
                </c:pt>
                <c:pt idx="13">
                  <c:v>CDKN2A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36.799999999999997</c:v>
                </c:pt>
                <c:pt idx="1">
                  <c:v>31.5</c:v>
                </c:pt>
                <c:pt idx="2">
                  <c:v>14.2</c:v>
                </c:pt>
                <c:pt idx="3">
                  <c:v>9.4</c:v>
                </c:pt>
                <c:pt idx="4">
                  <c:v>9.1</c:v>
                </c:pt>
                <c:pt idx="5">
                  <c:v>7.8</c:v>
                </c:pt>
                <c:pt idx="6">
                  <c:v>6.5</c:v>
                </c:pt>
                <c:pt idx="7">
                  <c:v>6.2</c:v>
                </c:pt>
                <c:pt idx="8">
                  <c:v>6</c:v>
                </c:pt>
                <c:pt idx="9">
                  <c:v>5.8</c:v>
                </c:pt>
                <c:pt idx="10">
                  <c:v>5.6</c:v>
                </c:pt>
                <c:pt idx="11">
                  <c:v>5.3</c:v>
                </c:pt>
                <c:pt idx="12">
                  <c:v>5</c:v>
                </c:pt>
                <c:pt idx="13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8B-4AE8-A46D-FC7365FBA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TMB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UCEC-POLE</c:v>
                </c:pt>
                <c:pt idx="1">
                  <c:v>COAD-MSI</c:v>
                </c:pt>
                <c:pt idx="2">
                  <c:v>SKCM</c:v>
                </c:pt>
                <c:pt idx="3">
                  <c:v>LUAD</c:v>
                </c:pt>
                <c:pt idx="4">
                  <c:v>LUSC</c:v>
                </c:pt>
                <c:pt idx="5">
                  <c:v>BLCA</c:v>
                </c:pt>
                <c:pt idx="6">
                  <c:v>STAD</c:v>
                </c:pt>
                <c:pt idx="7">
                  <c:v>HNSC</c:v>
                </c:pt>
                <c:pt idx="8">
                  <c:v>BRCA</c:v>
                </c:pt>
                <c:pt idx="9">
                  <c:v>COADREAD</c:v>
                </c:pt>
                <c:pt idx="10">
                  <c:v>OV</c:v>
                </c:pt>
                <c:pt idx="11">
                  <c:v>GBM</c:v>
                </c:pt>
                <c:pt idx="12">
                  <c:v>PRAD</c:v>
                </c:pt>
                <c:pt idx="13">
                  <c:v>KIRC</c:v>
                </c:pt>
                <c:pt idx="14">
                  <c:v>THCA</c:v>
                </c:pt>
                <c:pt idx="15">
                  <c:v>LAML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35</c:v>
                </c:pt>
                <c:pt idx="1">
                  <c:v>28</c:v>
                </c:pt>
                <c:pt idx="2">
                  <c:v>10</c:v>
                </c:pt>
                <c:pt idx="3">
                  <c:v>8.5</c:v>
                </c:pt>
                <c:pt idx="4">
                  <c:v>7.8</c:v>
                </c:pt>
                <c:pt idx="5">
                  <c:v>6.5</c:v>
                </c:pt>
                <c:pt idx="6">
                  <c:v>6</c:v>
                </c:pt>
                <c:pt idx="7">
                  <c:v>5.2</c:v>
                </c:pt>
                <c:pt idx="8">
                  <c:v>1.1000000000000001</c:v>
                </c:pt>
                <c:pt idx="9">
                  <c:v>0.95</c:v>
                </c:pt>
                <c:pt idx="10">
                  <c:v>0.85</c:v>
                </c:pt>
                <c:pt idx="11">
                  <c:v>0.75</c:v>
                </c:pt>
                <c:pt idx="12">
                  <c:v>0.6</c:v>
                </c:pt>
                <c:pt idx="13">
                  <c:v>0.45</c:v>
                </c:pt>
                <c:pt idx="14">
                  <c:v>0.25</c:v>
                </c:pt>
                <c:pt idx="1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69-448E-BF71-226A5D5A0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7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 (P)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Somatic SNVs</c:v>
                </c:pt>
                <c:pt idx="1">
                  <c:v>Copy Number</c:v>
                </c:pt>
                <c:pt idx="2">
                  <c:v>RNA-Seq</c:v>
                </c:pt>
                <c:pt idx="3">
                  <c:v>Methylation 450k</c:v>
                </c:pt>
                <c:pt idx="4">
                  <c:v>RPPA Protein</c:v>
                </c:pt>
                <c:pt idx="5">
                  <c:v>Clinical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20000</c:v>
                </c:pt>
                <c:pt idx="1">
                  <c:v>24000</c:v>
                </c:pt>
                <c:pt idx="2">
                  <c:v>20500</c:v>
                </c:pt>
                <c:pt idx="3">
                  <c:v>485000</c:v>
                </c:pt>
                <c:pt idx="4">
                  <c:v>218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D-4799-BB96-CAB726D92A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 (32-class)</c:v>
                </c:pt>
              </c:strCache>
            </c:strRef>
          </c:tx>
          <c:spPr>
            <a:solidFill>
              <a:srgbClr val="6B42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 (Baseline)</c:v>
                </c:pt>
                <c:pt idx="1">
                  <c:v>Random Forest</c:v>
                </c:pt>
                <c:pt idx="2">
                  <c:v>Logistic Reg.</c:v>
                </c:pt>
                <c:pt idx="3">
                  <c:v>GCN on PPI (Proposed)</c:v>
                </c:pt>
                <c:pt idx="4">
                  <c:v>Multi-Modal Transformer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</c:v>
                </c:pt>
                <c:pt idx="1">
                  <c:v>0.7</c:v>
                </c:pt>
                <c:pt idx="2">
                  <c:v>0.62</c:v>
                </c:pt>
                <c:pt idx="3">
                  <c:v>0.83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F-47D3-A146-3234134177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Top-3 Accuracy</c:v>
                </c:pt>
              </c:strCache>
            </c:strRef>
          </c:tx>
          <c:spPr>
            <a:solidFill>
              <a:srgbClr val="A97C5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 (Baseline)</c:v>
                </c:pt>
                <c:pt idx="1">
                  <c:v>Random Forest</c:v>
                </c:pt>
                <c:pt idx="2">
                  <c:v>Logistic Reg.</c:v>
                </c:pt>
                <c:pt idx="3">
                  <c:v>GCN on PPI (Proposed)</c:v>
                </c:pt>
                <c:pt idx="4">
                  <c:v>Multi-Modal Transformer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0.88</c:v>
                </c:pt>
                <c:pt idx="1">
                  <c:v>0.85</c:v>
                </c:pt>
                <c:pt idx="2">
                  <c:v>0.72</c:v>
                </c:pt>
                <c:pt idx="3">
                  <c:v>0.92</c:v>
                </c:pt>
                <c:pt idx="4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BF-47D3-A146-3234134177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3D2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4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5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94760" y="685800"/>
            <a:ext cx="4572000" cy="347472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TCGA Pan-Cancer Atlas 2018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Cancer </a:t>
            </a:r>
            <a:r>
              <a:rPr lang="en-US" sz="3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Occurrence</a:t>
            </a:r>
            <a:endParaRPr lang="en-US" sz="3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Types from Genomic </a:t>
            </a:r>
            <a:endParaRPr lang="en-US" sz="3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6060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somatic mutation profiles across </a:t>
            </a:r>
            <a:r>
              <a:rPr lang="en-US" sz="13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10,967 patients · 33 cancer types </a:t>
            </a:r>
            <a:r>
              <a:rPr lang="en-US" sz="13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3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tumor presence and classify primary cancer origin using machine learning.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3429000"/>
            <a:ext cx="1417320" cy="292608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10,967 PATIENTS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944368" y="3429000"/>
            <a:ext cx="1417320" cy="292608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97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CANCER TYPES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471416" y="3429000"/>
            <a:ext cx="1234440" cy="292608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~20,000 GENES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15584" y="3429000"/>
            <a:ext cx="1965960" cy="292608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CBIOPORTAL OPEN ACCESS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91272" y="3429000"/>
            <a:ext cx="1691640" cy="292608"/>
          </a:xfrm>
          <a:prstGeom prst="rect">
            <a:avLst/>
          </a:prstGeom>
          <a:solidFill>
            <a:srgbClr val="FBF3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· CNV · RNA-SEQ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3913632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21408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Biopsy /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cfDNA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121408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/ Tissue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4160520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61"/>
                </a:solidFill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9292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9292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 / WGS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79292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95444" y="4160520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61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37176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File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37176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Calls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53328" y="4160520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61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95060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95060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95060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∈ {0,1}^(N×G)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11212" y="4160520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61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52944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52944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552944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/ XGBoost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769096" y="4160520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61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10828" y="40233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10828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Type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910828" y="4590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Site Dx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77440" y="5230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542032" y="53035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542032" y="55046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cs typeface="Arial" pitchFamily="34" charset="-120"/>
              </a:rPr>
              <a:t>N ANGELINA SHARON (689) SARVESH (634)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cs typeface="Arial" pitchFamily="34" charset="-120"/>
              </a:rPr>
              <a:t>AYANDIP (650)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5230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056632" y="53035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5413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5 · 2026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06640" y="5230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571232" y="53035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571232" y="5413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-- TCGA · cBioPortal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577840" y="64190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&amp; Biological Background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somatic mutation landscape — how cancer arises and why it leaves tissue-specific genomic fingerprints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1600200"/>
          </a:xfrm>
          <a:prstGeom prst="roundRect">
            <a:avLst>
              <a:gd name="adj" fmla="val 40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Somatic Mutation Acquisition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7408" y="1705356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Somatic mutations 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in body cells over a lifetime — unlike inherited germline variants.</a:t>
            </a:r>
            <a:endParaRPr lang="en-US" sz="10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Caused by </a:t>
            </a: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 errors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UV radiation, tobacco carcinogens, APOBEC deaminases, and DNA repair defects.</a:t>
            </a:r>
            <a:endParaRPr lang="en-US" sz="10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tumor cell accumulates </a:t>
            </a: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– 100,000 mutations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depending on tissue type and etiology.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532120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1792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Driver vs. Passenger Mutations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35204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5844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9C4A2D"/>
                </a:solidFill>
              </a:rPr>
              <a:t>● Driver Mutations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4636"/>
                </a:solidFill>
              </a:rPr>
              <a:t>Confer selective growth advantage. ~5% of all mutations. TP53, KRAS, PIK3CA, PTEN. Key ML signal.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5204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01568" y="35844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B4226"/>
                </a:solidFill>
              </a:rPr>
              <a:t>■ Passenger Mutations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4636"/>
                </a:solidFill>
              </a:rPr>
              <a:t>Neutral, co-occurring randomly. ~95%+ of total mutations. Background noise for ML.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5532120" cy="1600200"/>
          </a:xfrm>
          <a:prstGeom prst="roundRect">
            <a:avLst>
              <a:gd name="adj" fmla="val 40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" y="4754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Clinical Imperatives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50749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via Liquid Biopsy: 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ctDNA fragments in blood before symptoms.</a:t>
            </a:r>
            <a:endParaRPr lang="en-US" sz="10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of Unknown Primary (CUP): 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3–5% of all cancers — origin unknown at diagnosis.</a:t>
            </a:r>
            <a:endParaRPr lang="en-US" sz="10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10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Oncology: </a:t>
            </a:r>
            <a:r>
              <a:rPr lang="en-US" sz="10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patients to targeted therapies by mutational biomarkers.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5577840" cy="2606040"/>
          </a:xfrm>
          <a:prstGeom prst="roundRect">
            <a:avLst>
              <a:gd name="adj" fmla="val 245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🧫  Tissue Tropism — Mutation Specificity by Organ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336792" y="1783080"/>
          <a:ext cx="5257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172200" y="4114800"/>
            <a:ext cx="5577840" cy="2148840"/>
          </a:xfrm>
          <a:prstGeom prst="roundRect">
            <a:avLst>
              <a:gd name="adj" fmla="val 2979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336792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Key Driver Gene–Cancer Associations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4526280"/>
          <a:ext cx="5257800" cy="1600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Driver Gene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Cancer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Pancreatic (PAAD)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Oncogene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EGFR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Lung Adeno (LUAD)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RTK Oncogene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BRAF V600E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Melanoma (SKCM)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IDH1/2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Low-Grade Glioma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Metabolic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ML Formulations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concrete machine learning tasks derived from TCGA somatic mutation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572768"/>
            <a:ext cx="3108960" cy="274320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BINARY CLASSIFICATION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385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Occurrence Detection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 vs. Tumor)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4203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mutation vector x ∈ ℝᴳ, predict y ∈ {0,1}. Clinical use: liquid biopsy screening, early detection of ctDNA in blood before symptoms appear.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536192"/>
            <a:ext cx="384048" cy="384048"/>
          </a:xfrm>
          <a:prstGeom prst="ellipse">
            <a:avLst/>
          </a:prstGeom>
          <a:solidFill>
            <a:srgbClr val="8B5E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572768"/>
            <a:ext cx="3108960" cy="274320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MULTI-CLASS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9385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Site Classification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2402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(Cancer of Unknown Primary — CUP)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4203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tumor mutation profile x, predict y ∈ {1, …, 33} cancer types. Solves CUP for metastatic tumors where origin is unknown at diagnosis.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9C4A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995928"/>
            <a:ext cx="3108960" cy="274320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PATHOGENICITY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61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Gene Variant Interpretation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634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(Driver vs. Passenger)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6519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genomic context + variant features. Output: Pathogenic Driver vs. Benign Passenger. Uses CADD scores, evolutionary conservation, functional annotations.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79476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3959352"/>
            <a:ext cx="384048" cy="384048"/>
          </a:xfrm>
          <a:prstGeom prst="ellipse">
            <a:avLst/>
          </a:prstGeom>
          <a:solidFill>
            <a:srgbClr val="A97C5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95928"/>
            <a:ext cx="3108960" cy="274320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7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PROGNOSTIC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361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&amp; Risk Stratification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6634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(Overall Survival Modeling)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96519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mutation matrix + clinical covariates. Target: time-to-event (T, δ) — Overall Survival months and censoring status. Cox PH / DeepSurv models.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Representation &amp; Loss Functions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somatic mutations into ML-ready feature matrices and optimizing for severe class imbalance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1005840"/>
          </a:xfrm>
          <a:prstGeom prst="roundRect">
            <a:avLst>
              <a:gd name="adj" fmla="val 636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Dataset Tensor Dimensions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" y="176479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837944"/>
            <a:ext cx="2295144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10,967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41398"/>
            <a:ext cx="2295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64792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55848" y="1837944"/>
            <a:ext cx="2295144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~20,000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041398"/>
            <a:ext cx="2295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 (G)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5532120" cy="960120"/>
          </a:xfrm>
          <a:prstGeom prst="roundRect">
            <a:avLst>
              <a:gd name="adj" fmla="val 6667"/>
            </a:avLst>
          </a:prstGeom>
          <a:solidFill>
            <a:srgbClr val="4A2E1D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" y="25603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Baseline binary mutation matrix X ∈ {0, 1}^{N × G}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X[i,j] = 1 if patient i has non-syn mutation in gene j, else 0
</a:t>
            </a:r>
            <a:r>
              <a:rPr lang="en-US" sz="900" dirty="0">
                <a:solidFill>
                  <a:srgbClr val="D9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Sparsity: ~99.2% zeros  nnz(X) / (N × G) ≈ 0.008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5532120" cy="2651760"/>
          </a:xfrm>
          <a:prstGeom prst="roundRect">
            <a:avLst>
              <a:gd name="adj" fmla="val 241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" y="36758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Advanced Feature Representations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977640"/>
            <a:ext cx="310896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PATHOGENICITY WEIGHTING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4270248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251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4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X[i,j] = maxᵥ ∈ Mut(i,j) CADD_Score(v) or AlphaMissense_Score(v)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800600"/>
            <a:ext cx="310896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NUMBER (GISTIC 2.0)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" y="5093208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148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4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C[i,j] ∈ {-2,-1,0,+1,+2}  DeepDel | ShallowDel | Diploid | Gain | Amp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5623560"/>
            <a:ext cx="310896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MUTATIONAL SIGNATURES (COSMIC v3.4)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5916168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971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4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Sᵢ ∈ ℝ^96 ← trinucleotide context freq.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5577840" cy="2377440"/>
          </a:xfrm>
          <a:prstGeom prst="roundRect">
            <a:avLst>
              <a:gd name="adj" fmla="val 2692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 Loss Functions for Imbalanced Multi-Class Learning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178308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5DFD6"/>
          </a:solidFill>
          <a:ln w="12700">
            <a:solidFill>
              <a:srgbClr val="E3B7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1828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(Class Imbalance)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ℒFocal(pₜ) = -αₜ(1-pₜ)^γ log(pₜ)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2377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= 2.0 downweights easy majority classes (BRCA). αₜ = inverse class frequency per cancer type. Focuses gradient on hard-to-classify rare cancers (CHOL, DLBC).</a:t>
            </a:r>
            <a:endParaRPr lang="en-US" sz="87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336792" y="2834640"/>
          <a:ext cx="5257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6172200" y="466344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281928" y="4736592"/>
            <a:ext cx="151790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30.1:1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281928" y="5241798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Ratio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01000" y="466344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110728" y="4736592"/>
            <a:ext cx="151790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γ=2.0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8110728" y="5241798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γ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829800" y="46634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9939528" y="4736592"/>
            <a:ext cx="170078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9939528" y="5241798"/>
            <a:ext cx="1700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Sparsity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Data Infrastructure &amp; cBioPortal API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MAF files and GISTIC 2.0 copy number data without controlled-access barriers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pic>
        <p:nvPicPr>
          <p:cNvPr id="6" name="Image 0" descr="/home/claude/work/assets_cb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5257800" cy="1591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05043" y="3209544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cbioportal.org — real screenshot preserved from original deck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3886200"/>
            <a:ext cx="5532120" cy="2194560"/>
          </a:xfrm>
          <a:prstGeom prst="roundRect">
            <a:avLst>
              <a:gd name="adj" fmla="val 2917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MAF File — Key Fields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279392"/>
          <a:ext cx="5212080" cy="16916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Hugo_Symbol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TP53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gene name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Variant_Classification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Missense_Mutation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effect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Tumor_Sample_Barcode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TCGA-BH-A0B3-01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 ID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HGVSp_Short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9C7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p.R175H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Protein change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t_alt_count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Mutant read depth → VAF</a:t>
                      </a:r>
                      <a:endParaRPr lang="en-US" sz="8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172200" y="1371600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Data Access Architecture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36792" y="1783080"/>
            <a:ext cx="5257800" cy="438912"/>
          </a:xfrm>
          <a:prstGeom prst="roundRect">
            <a:avLst>
              <a:gd name="adj" fmla="val 14583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18105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1E"/>
                </a:solidFill>
              </a:rPr>
              <a:t>cBioPortal REST API   </a:t>
            </a:r>
            <a:r>
              <a:rPr lang="en-US" sz="800" b="1" dirty="0">
                <a:solidFill>
                  <a:srgbClr val="FFFFFF"/>
                </a:solidFill>
                <a:highlight>
                  <a:srgbClr val="9C7A22"/>
                </a:highlight>
              </a:rPr>
              <a:t>OPEN ACCESS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1993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42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/api/studies/{studyId}/mutations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36792" y="2267712"/>
            <a:ext cx="5257800" cy="420624"/>
          </a:xfrm>
          <a:prstGeom prst="roundRect">
            <a:avLst>
              <a:gd name="adj" fmla="val 15217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46520" y="2286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4636"/>
                </a:solidFill>
              </a:rPr>
              <a:t>Returns clean MAF + GISTIC CNV + clinical data. No DBGaP approval needed for processed PanCancer Atlas.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6172200" y="288036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336792" y="2971800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2A1E"/>
                </a:solidFill>
              </a:rPr>
              <a:t>GDC Data Portal   </a:t>
            </a:r>
            <a:r>
              <a:rPr lang="en-US" sz="800" b="1" dirty="0">
                <a:solidFill>
                  <a:srgbClr val="FFFFFF"/>
                </a:solidFill>
                <a:highlight>
                  <a:srgbClr val="9C4A2D"/>
                </a:highlight>
              </a:rPr>
              <a:t>CONTROLLED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336792" y="3154680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42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portal.gdc.cancer.gov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336792" y="33375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BAM/FASTQ files. Requires DBGaP authorization. GRCh38-aligned. Used for raw variant calling.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6172200" y="388620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336792" y="3977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🧫  GISTIC 2.0 Copy Number Data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336792" y="427939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GISTIC 2.0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significantly amplified/deleted genomic regions across a tumor cohort.</a:t>
            </a:r>
            <a:endParaRPr lang="en-US" sz="88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gene receives a discrete score: </a:t>
            </a:r>
            <a:r>
              <a:rPr lang="en-US" sz="88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(Deep Del), </a:t>
            </a:r>
            <a:r>
              <a:rPr lang="en-US" sz="88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(Shallow Del), </a:t>
            </a: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(Diploid), </a:t>
            </a:r>
            <a:r>
              <a:rPr lang="en-US" sz="88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(Gain), </a:t>
            </a:r>
            <a:r>
              <a:rPr lang="en-US" sz="88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Amp).</a:t>
            </a:r>
            <a:endParaRPr lang="en-US" sz="88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all 32 PanCancer Atlas studies via cBioPortal — </a:t>
            </a: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~24,000 gene columns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patient.</a:t>
            </a:r>
            <a:endParaRPr lang="en-US" sz="88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amplifications: </a:t>
            </a: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ERBB2/HER2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BRCA, </a:t>
            </a: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LUSC, </a:t>
            </a:r>
            <a:r>
              <a:rPr lang="en-US" sz="88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</a:t>
            </a:r>
            <a:r>
              <a:rPr lang="en-US" sz="88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GBM.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6172200" y="553212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281928" y="5605272"/>
            <a:ext cx="1517904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6281928" y="5959602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Studies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001000" y="553212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110728" y="5605272"/>
            <a:ext cx="1517904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~3.5M</a:t>
            </a:r>
            <a:endParaRPr lang="en-US" sz="2000" dirty="0"/>
          </a:p>
        </p:txBody>
      </p:sp>
      <p:sp>
        <p:nvSpPr>
          <p:cNvPr id="30" name="Text 26"/>
          <p:cNvSpPr txBox="1"/>
          <p:nvPr/>
        </p:nvSpPr>
        <p:spPr>
          <a:xfrm>
            <a:off x="8110728" y="5959602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 Records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9829800" y="553212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9939528" y="5605272"/>
            <a:ext cx="1700784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GRCh38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9939528" y="5959602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Build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Macroscopic Cohort Statistics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empirical distribution across 32 TCGA PanCancer Atlas studies — from BRCA (N=1,084) to CHOL (N=36)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800600"/>
          </a:xfrm>
          <a:prstGeom prst="roundRect">
            <a:avLst>
              <a:gd name="adj" fmla="val 1333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Count per Cancer Type — N = 10,967 total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21792" y="178308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371600"/>
            <a:ext cx="5577840" cy="2834640"/>
          </a:xfrm>
          <a:prstGeom prst="roundRect">
            <a:avLst>
              <a:gd name="adj" fmla="val 2258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Class Imbalance Facts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7040880" y="178308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172200" y="434340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281928" y="4416552"/>
            <a:ext cx="2478024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30.1:1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281928" y="4770882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: Min Ratio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052560" y="434340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162288" y="4416552"/>
            <a:ext cx="2478024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162288" y="4770882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Cohorts N &lt; 100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5257800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336792" y="5321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Organ Systems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336792" y="555955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(BRCA):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1,084 — 9.9% of dataset   ·   </a:t>
            </a: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(GBM+LGG):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1,106 combined — 10.1%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 (LUAD+LUSC):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1,053 combined — 9.6%   ·   </a:t>
            </a: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 (KIRC+KIRP+KICH):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860 — 7.8%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Microscopic Statistics — Driver Gene Frequencies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driver mutations vs. passenger artifacts — the mutational long-tail problem in cancer genomics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800600"/>
          </a:xfrm>
          <a:prstGeom prst="roundRect">
            <a:avLst>
              <a:gd name="adj" fmla="val 1333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44752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Somatic Mutation Frequency — Top 14 Genes (N = 10,967)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brown = validated Cancer Gene Census driver  ·  Tan = passenger artifact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21792" y="2084832"/>
          <a:ext cx="52120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371600"/>
            <a:ext cx="5562600" cy="2130552"/>
          </a:xfrm>
          <a:prstGeom prst="roundRect">
            <a:avLst>
              <a:gd name="adj" fmla="val 325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 Top Driver Gene Quick Reference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755648"/>
          <a:ext cx="5257800" cy="174650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Freq%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Top Cancer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TP53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36.8%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 95%, LUSC 73%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SUPPRESSOR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31.5%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(size artifact)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9C7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PASSENGER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PIK3CA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BRCA 35%, UCEC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6B4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ONCOGENE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PTEN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UCEC 65%, GBM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SUPPRESSOR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PAAD 90%, COAD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6B42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ONCOGENE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ARID1A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UCEC 50%, STAD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A97C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CHROMATIN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8B5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BRAF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9C4A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SKCM 52%, THCA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9C7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KINASE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172200" y="3520440"/>
            <a:ext cx="557784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336792" y="3611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The Long-Tail Distribution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336792" y="3913632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genes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 45%+ of all driver mutation events.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&gt;18,000 genes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mutated in less than 1% of patients — extreme sparsity.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TTN exclusion: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filter TTN — it's the largest gene (36,350 AA) and accumulates passenger mutations by sheer size.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Gene2Vec embeddings or STRING pathway aggregation to group rare gene mutations into functional modules.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72200" y="534924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336792" y="542239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TTN Contamination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336792" y="56509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models mistakenly assign high importance to TTN. Always filter using non-synonymous pathogenicity thresholds (CADD &gt; 15).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Mutation Burden (TMB) Dynamics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across 3 orders of magnitude — from &lt;0.1 Mut/Mb in LAML/THCA to &gt;30 Mut/Mb in SKCM/POLE-UCEC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800600"/>
          </a:xfrm>
          <a:prstGeom prst="roundRect">
            <a:avLst>
              <a:gd name="adj" fmla="val 1333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TMB by Cancer Type (log scale)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21792" y="1965960"/>
          <a:ext cx="52120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1792" y="16916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Hyper-mutated (&gt;10)   ■ High (2–10)   ■ Low (&lt;2)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57784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36792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TMB Spectrum — Quantitative Breakdown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755648"/>
          <a:ext cx="5257800" cy="1280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Median TMB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Cancers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Etiology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HYPER-MUT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 Mut/Mb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UCEC (POLE), COAD (MSI)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 repair defect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7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8–20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SKCM, LUAD, LUSC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 / Tobacco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2–7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STAD, BLCA, HNSC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APOBEC / Ageing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/ QUIET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LAML, THCA, PCPG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5B4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Chromosomal fusions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172200" y="3246120"/>
            <a:ext cx="5577840" cy="1783080"/>
          </a:xfrm>
          <a:prstGeom prst="roundRect">
            <a:avLst>
              <a:gd name="adj" fmla="val 3590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336792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ML Modeling Challenges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336792" y="3639312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Hypermutator Dominance: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POLE-mutated UCEC can have 5,000+ mutations vs. 10 in THCA. Raw counts will dominate gradients.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Normalization: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Log-transform TMB features: log₁₀(TMB + 1) before inputting to models.</a:t>
            </a:r>
            <a:endParaRPr lang="en-US" sz="85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TMB as Immunotherapy Predictor: </a:t>
            </a: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TMB (&gt;10 Mut/Mb) correlates with response to PD-1/PD-L1 checkpoint inhibitors — FDA-approved biomarker since 2020.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72200" y="516636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281928" y="523951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281928" y="566928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SKCM vs LAML TMB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052560" y="516636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162288" y="523951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9162288" y="566928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SKCM Median Mut/Mb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Multi-Omics Data Modalities &amp; Feature Dimensions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the P ≫ N problem — 550,000 features, 11,000 samples — across 6 TCGA data layers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Somatic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20,000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/ CADD-weighted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 sparse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340864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340864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86584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Number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(GISTIC 2.0)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78024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24,000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386584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-2 to +2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dense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224528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24528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70248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61688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20,500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270248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Log₂ RSEM / TPM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 missing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108192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08192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Methylation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(450k Array)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485,000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153912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∈ [0,1] CpG sites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Epigenetic silencing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991856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991856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37576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RPPA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9016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218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037576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Phospho-proteins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complete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9875520" y="1371600"/>
            <a:ext cx="1801368" cy="1417320"/>
          </a:xfrm>
          <a:prstGeom prst="roundRect">
            <a:avLst>
              <a:gd name="adj" fmla="val 4516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875520" y="144475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176479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012680" y="2176272"/>
            <a:ext cx="1527048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9921240" y="2423160"/>
            <a:ext cx="170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Stage, OS</a:t>
            </a:r>
            <a:endParaRPr lang="en-US" sz="7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3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outcomes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457200" y="3017520"/>
            <a:ext cx="5532120" cy="3154680"/>
          </a:xfrm>
          <a:prstGeom prst="roundRect">
            <a:avLst>
              <a:gd name="adj" fmla="val 2029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21792" y="3108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The P ≫ N Curse of Dimensionality</a:t>
            </a:r>
            <a:endParaRPr lang="en-US" sz="12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1792" y="3429000"/>
          <a:ext cx="5212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6172200" y="3017520"/>
            <a:ext cx="5577840" cy="1691640"/>
          </a:xfrm>
          <a:prstGeom prst="roundRect">
            <a:avLst>
              <a:gd name="adj" fmla="val 3784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336792" y="3108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Dimensionality Challenge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336792" y="33649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≈ 550,000  ≫  N ≈ 11,000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6336792" y="3675888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features vs available samples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6336792" y="393192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overfitting risk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regularization.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Autoencoders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unsupervised dimensionality reduction to latent space z ∈ ℝ⁶⁴.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/ UMAP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variance-based component selection per modality.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aggregation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Reactome / KEGG gene set scoring.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172200" y="4846320"/>
            <a:ext cx="5577840" cy="1325880"/>
          </a:xfrm>
          <a:prstGeom prst="roundRect">
            <a:avLst>
              <a:gd name="adj" fmla="val 4828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336792" y="4937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Multi-Modal Fusion Strategies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336792" y="5212080"/>
            <a:ext cx="5257800" cy="274320"/>
          </a:xfrm>
          <a:prstGeom prst="roundRect">
            <a:avLst>
              <a:gd name="adj" fmla="val 23333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28232" y="523951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6B4226"/>
                </a:solidFill>
              </a:rPr>
              <a:t>Early Fusion: </a:t>
            </a:r>
            <a:r>
              <a:rPr lang="en-US" sz="870" dirty="0">
                <a:solidFill>
                  <a:srgbClr val="5B4636"/>
                </a:solidFill>
              </a:rPr>
              <a:t>Concatenate all modalities → single model. Simple but noisy.</a:t>
            </a:r>
            <a:endParaRPr lang="en-US" sz="870" dirty="0"/>
          </a:p>
        </p:txBody>
      </p:sp>
      <p:sp>
        <p:nvSpPr>
          <p:cNvPr id="47" name="Shape 44"/>
          <p:cNvSpPr/>
          <p:nvPr/>
        </p:nvSpPr>
        <p:spPr>
          <a:xfrm>
            <a:off x="6336792" y="5550408"/>
            <a:ext cx="5257800" cy="274320"/>
          </a:xfrm>
          <a:prstGeom prst="roundRect">
            <a:avLst>
              <a:gd name="adj" fmla="val 23333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28232" y="55778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8B5E34"/>
                </a:solidFill>
              </a:rPr>
              <a:t>Late Fusion: </a:t>
            </a:r>
            <a:r>
              <a:rPr lang="en-US" sz="870" dirty="0">
                <a:solidFill>
                  <a:srgbClr val="5B4636"/>
                </a:solidFill>
              </a:rPr>
              <a:t>Train separate models per modality, ensemble predictions.</a:t>
            </a:r>
            <a:endParaRPr lang="en-US" sz="870" dirty="0"/>
          </a:p>
        </p:txBody>
      </p:sp>
      <p:sp>
        <p:nvSpPr>
          <p:cNvPr id="49" name="Shape 46"/>
          <p:cNvSpPr/>
          <p:nvPr/>
        </p:nvSpPr>
        <p:spPr>
          <a:xfrm>
            <a:off x="6336792" y="5888736"/>
            <a:ext cx="5257800" cy="274320"/>
          </a:xfrm>
          <a:prstGeom prst="roundRect">
            <a:avLst>
              <a:gd name="adj" fmla="val 23333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28232" y="59161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9C4A2D"/>
                </a:solidFill>
              </a:rPr>
              <a:t>Transformer: </a:t>
            </a:r>
            <a:r>
              <a:rPr lang="en-US" sz="870" dirty="0">
                <a:solidFill>
                  <a:srgbClr val="5B4636"/>
                </a:solidFill>
              </a:rPr>
              <a:t>Cross-modal attention — learns which modality matters per cancer type.</a:t>
            </a:r>
            <a:endParaRPr lang="en-US" sz="870" dirty="0"/>
          </a:p>
        </p:txBody>
      </p:sp>
      <p:sp>
        <p:nvSpPr>
          <p:cNvPr id="51" name="Shape 48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&amp; Methodological Pitfalls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critical failure modes that invalidate TCGA machine learning results — and how to avoid them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77840" cy="2514600"/>
          </a:xfrm>
          <a:prstGeom prst="roundRect">
            <a:avLst>
              <a:gd name="adj" fmla="val 2545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17904"/>
            <a:ext cx="347472" cy="347472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17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72768"/>
            <a:ext cx="137160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&amp; Rare Cancers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3591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54203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(1,084) vs CHOL (36). Plain cross-entropy ignores rare classes entirely.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23591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54203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(γ=2.0), class-weighted CE, Stratified K-Fold, Macro-F1 metric.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5577840" cy="2514600"/>
          </a:xfrm>
          <a:prstGeom prst="roundRect">
            <a:avLst>
              <a:gd name="adj" fmla="val 2545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517904"/>
            <a:ext cx="347472" cy="347472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517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1572768"/>
            <a:ext cx="137160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— Patient-Level Splitting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228600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4808" y="23591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25420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TCGA patients have multiple tumor samples. Sample-level split leaks germline markers.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052560" y="228600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62288" y="23591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25420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split by Patient Barcode prefix (TCGA-XX-XXXX), never by Sample Barcode.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355080" y="3337560"/>
            <a:ext cx="5212080" cy="411480"/>
          </a:xfrm>
          <a:prstGeom prst="roundRect">
            <a:avLst>
              <a:gd name="adj" fmla="val 15556"/>
            </a:avLst>
          </a:prstGeom>
          <a:solidFill>
            <a:srgbClr val="4A2E1D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Correct: group by patient   patient_id = barcode[:12]  # TCGA-XX-XXXX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5577840" cy="2514600"/>
          </a:xfrm>
          <a:prstGeom prst="roundRect">
            <a:avLst>
              <a:gd name="adj" fmla="val 2545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123944"/>
            <a:ext cx="347472" cy="347472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4123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" y="4178808"/>
            <a:ext cx="137160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480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Batch Effects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965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5148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Tissue Source Sites (TSS) and platforms (HiSeq 2000 vs GAIIx) create artificial signals.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3337560" y="48920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47288" y="4965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447288" y="5148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batch correction, or include sequencing center as a blocking covariate in CV.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172200" y="3977640"/>
            <a:ext cx="5577840" cy="2514600"/>
          </a:xfrm>
          <a:prstGeom prst="roundRect">
            <a:avLst>
              <a:gd name="adj" fmla="val 2545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4123944"/>
            <a:ext cx="347472" cy="347472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55080" y="4123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793992" y="4178808"/>
            <a:ext cx="1371600" cy="237744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4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4480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Missingness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355080" y="48920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BEDE6"/>
          </a:solidFill>
          <a:ln w="12700">
            <a:solidFill>
              <a:srgbClr val="E3B7A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64808" y="4965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464808" y="5148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RPPA available for only ~7,500 / 10,967 patients (68%). Not all modalities are complete.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9052560" y="48920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1E4C9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62288" y="4965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162288" y="514807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Mask-aware transformers with modality dropout, or impute using KNN per cancer type.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AI Architecture Blueprint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cBioPortal ingestion to Graph Neural Networks, Focal Loss optimization, and SHAP interpretability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914400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Data Ingestion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cBioPortal REST API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Parse MAF files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Filter silent / intronic variants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GISTIC 2.0 CNV overlay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01568" y="1463040"/>
            <a:ext cx="914400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Feature Engineering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0574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 binary matrix X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CADD / AlphaMissense weights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STRING PPI graph edges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COSMIC mutational signatures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08776" y="1463040"/>
            <a:ext cx="914400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Model Training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20574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GCN on STRING PPI graph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XGBoost baseline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Focal Loss (γ=2.0)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Stratified 5-Fold CV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878824" y="1371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15984" y="1463040"/>
            <a:ext cx="914400" cy="219456"/>
          </a:xfrm>
          <a:prstGeom prst="rect">
            <a:avLst/>
          </a:prstGeom>
          <a:solidFill>
            <a:srgbClr val="EFE0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9015984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Evaluation &amp; XAI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015984" y="20574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Macro-F1 / AUROC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Top-3 Accuracy (CUP)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SHAP feature attribution</a:t>
            </a:r>
            <a:endParaRPr lang="en-US" sz="830" dirty="0"/>
          </a:p>
          <a:p>
            <a:pPr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83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Validate vs CGC drivers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5532120" cy="2971800"/>
          </a:xfrm>
          <a:prstGeom prst="roundRect">
            <a:avLst>
              <a:gd name="adj" fmla="val 2154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" y="3337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Expected Performance Targets –</a:t>
            </a: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from research done previously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21792" y="3657600"/>
          <a:ext cx="52120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6172200" y="3246120"/>
            <a:ext cx="5577840" cy="1508760"/>
          </a:xfrm>
          <a:prstGeom prst="roundRect">
            <a:avLst>
              <a:gd name="adj" fmla="val 4242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36792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4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  Graph Neural Network on STRING PPI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36792" y="361188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features: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per-gene binary mutation status for each patient.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Edges: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protein–protein interaction scores &gt; 0.7 confidence.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passing: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signals diffuse through functional protein pathways (e.g., PI3K-AKT, RAS-MAPK).</a:t>
            </a:r>
            <a:endParaRPr lang="en-US" sz="800" dirty="0"/>
          </a:p>
          <a:p>
            <a:pPr marL="177800" indent="-177800">
              <a:lnSpc>
                <a:spcPct val="118000"/>
              </a:lnSpc>
              <a:buSzPct val="100000"/>
              <a:buChar char="●"/>
            </a:pPr>
            <a:r>
              <a:rPr lang="en-US" sz="80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</a:t>
            </a:r>
            <a:r>
              <a:rPr lang="en-US" sz="80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rare gene mutations with interacting partners — solves the long-tail sparsity problem.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4846320"/>
            <a:ext cx="5577840" cy="960120"/>
          </a:xfrm>
          <a:prstGeom prst="roundRect">
            <a:avLst>
              <a:gd name="adj" fmla="val 6667"/>
            </a:avLst>
          </a:prstGeom>
          <a:solidFill>
            <a:srgbClr val="FFFCF6"/>
          </a:solidFill>
          <a:ln w="12700">
            <a:solidFill>
              <a:srgbClr val="E3D2B0"/>
            </a:solidFill>
            <a:prstDash val="solid"/>
          </a:ln>
          <a:effectLst>
            <a:outerShdw blurRad="76200" dist="25400" dir="5400000" algn="bl" rotWithShape="0">
              <a:srgbClr val="C7B79A">
                <a:alpha val="3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36792" y="4919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SHAP Interpretability Validation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36792" y="5166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 values confirm that predictions rely on biologically validated drivers — not artifacts or batch effects.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091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E3D2B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091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Prev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37960" y="64190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B2A1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37960" y="64190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5778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2329</Words>
  <Application>Microsoft Office PowerPoint</Application>
  <PresentationFormat>Widescreen</PresentationFormat>
  <Paragraphs>426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Angelina Sharon Nathala - Shejobs</cp:lastModifiedBy>
  <cp:revision>4</cp:revision>
  <dcterms:created xsi:type="dcterms:W3CDTF">2026-08-26T21:21:26Z</dcterms:created>
  <dcterms:modified xsi:type="dcterms:W3CDTF">2026-08-27T09:37:40Z</dcterms:modified>
</cp:coreProperties>
</file>